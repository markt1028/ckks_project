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2545" autoAdjust="0"/>
  </p:normalViewPr>
  <p:slideViewPr>
    <p:cSldViewPr snapToGrid="0">
      <p:cViewPr varScale="1">
        <p:scale>
          <a:sx n="91" d="100"/>
          <a:sy n="91" d="100"/>
        </p:scale>
        <p:origin x="131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6630107526881721"/>
          <c:y val="1.8833911193199614E-2"/>
          <c:w val="0.82079569892473114"/>
          <c:h val="0.88852748344728516"/>
        </c:manualLayout>
      </c:layout>
      <c:barChart>
        <c:barDir val="col"/>
        <c:grouping val="clustered"/>
        <c:varyColors val="1"/>
        <c:ser>
          <c:idx val="0"/>
          <c:order val="0"/>
          <c:tx>
            <c:v>FHE circuit time</c:v>
          </c:tx>
          <c:spPr>
            <a:solidFill>
              <a:srgbClr val="3D8DFF"/>
            </a:solidFill>
          </c:spPr>
          <c:invertIfNegative val="1"/>
          <c:dPt>
            <c:idx val="0"/>
            <c:invertIfNegative val="0"/>
            <c:bubble3D val="0"/>
            <c:spPr>
              <a:solidFill>
                <a:srgbClr val="D0EDFA"/>
              </a:solidFill>
            </c:spPr>
            <c:extLst>
              <c:ext xmlns:c16="http://schemas.microsoft.com/office/drawing/2014/chart" uri="{C3380CC4-5D6E-409C-BE32-E72D297353CC}">
                <c16:uniqueId val="{00000001-03DB-4D03-B28F-3B2F704BDC33}"/>
              </c:ext>
            </c:extLst>
          </c:dPt>
          <c:dPt>
            <c:idx val="1"/>
            <c:invertIfNegative val="0"/>
            <c:bubble3D val="0"/>
            <c:spPr>
              <a:solidFill>
                <a:srgbClr val="9EDDF6"/>
              </a:solidFill>
            </c:spPr>
            <c:extLst>
              <c:ext xmlns:c16="http://schemas.microsoft.com/office/drawing/2014/chart" uri="{C3380CC4-5D6E-409C-BE32-E72D297353CC}">
                <c16:uniqueId val="{00000003-03DB-4D03-B28F-3B2F704BDC33}"/>
              </c:ext>
            </c:extLst>
          </c:dPt>
          <c:dPt>
            <c:idx val="2"/>
            <c:invertIfNegative val="0"/>
            <c:bubble3D val="0"/>
            <c:spPr>
              <a:solidFill>
                <a:srgbClr val="6DCBF4"/>
              </a:solidFill>
            </c:spPr>
            <c:extLst>
              <c:ext xmlns:c16="http://schemas.microsoft.com/office/drawing/2014/chart" uri="{C3380CC4-5D6E-409C-BE32-E72D297353CC}">
                <c16:uniqueId val="{00000005-03DB-4D03-B28F-3B2F704BDC33}"/>
              </c:ext>
            </c:extLst>
          </c:dPt>
          <c:dPt>
            <c:idx val="3"/>
            <c:invertIfNegative val="0"/>
            <c:bubble3D val="0"/>
            <c:spPr>
              <a:solidFill>
                <a:srgbClr val="3D8DFF"/>
              </a:solidFill>
            </c:spPr>
            <c:extLst>
              <c:ext xmlns:c16="http://schemas.microsoft.com/office/drawing/2014/chart" uri="{C3380CC4-5D6E-409C-BE32-E72D297353CC}">
                <c16:uniqueId val="{00000007-03DB-4D03-B28F-3B2F704BDC3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200" b="1">
                    <a:solidFill>
                      <a:srgbClr val="111111"/>
                    </a:solidFill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32×32</c:v>
              </c:pt>
              <c:pt idx="1">
                <c:v>64×64</c:v>
              </c:pt>
              <c:pt idx="2">
                <c:v>128×128</c:v>
              </c:pt>
              <c:pt idx="3">
                <c:v>256×256</c:v>
              </c:pt>
            </c:strLit>
          </c:cat>
          <c:val>
            <c:numLit>
              <c:formatCode>0.0</c:formatCode>
              <c:ptCount val="4"/>
              <c:pt idx="0">
                <c:v>9.1999999999999993</c:v>
              </c:pt>
              <c:pt idx="1">
                <c:v>17.3</c:v>
              </c:pt>
              <c:pt idx="2">
                <c:v>63.2</c:v>
              </c:pt>
              <c:pt idx="3">
                <c:v>198.7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8-03DB-4D03-B28F-3B2F704BDC3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B8BCC4"/>
            </a:solidFill>
            <a:prstDash val="solid"/>
          </a:ln>
        </c:spPr>
        <c:txPr>
          <a:bodyPr anchorCtr="1"/>
          <a:lstStyle/>
          <a:p>
            <a:pPr>
              <a:defRPr sz="1200" b="1">
                <a:solidFill>
                  <a:srgbClr val="111111"/>
                </a:solidFill>
              </a:defRPr>
            </a:pPr>
            <a:endParaRPr lang="zh-TW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220"/>
          <c:min val="0"/>
        </c:scaling>
        <c:delete val="0"/>
        <c:axPos val="l"/>
        <c:majorGridlines>
          <c:spPr>
            <a:ln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zh-TW" altLang="en-US" sz="1200" b="1">
                    <a:solidFill>
                      <a:srgbClr val="555555"/>
                    </a:solidFill>
                  </a:rPr>
                  <a:t>分鐘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nextTo"/>
        <c:spPr>
          <a:ln w="0">
            <a:solidFill>
              <a:srgbClr val="FFFFFF"/>
            </a:solidFill>
            <a:prstDash val="solid"/>
          </a:ln>
        </c:spPr>
        <c:txPr>
          <a:bodyPr anchorCtr="1"/>
          <a:lstStyle/>
          <a:p>
            <a:pPr>
              <a:defRPr sz="1125">
                <a:solidFill>
                  <a:srgbClr val="555555"/>
                </a:solidFill>
              </a:defRPr>
            </a:pPr>
            <a:endParaRPr lang="zh-TW"/>
          </a:p>
        </c:txPr>
        <c:crossAx val="48650112"/>
        <c:crosses val="autoZero"/>
        <c:crossBetween val="between"/>
        <c:majorUnit val="50"/>
      </c:valAx>
      <c:spPr>
        <a:noFill/>
        <a:ln w="0">
          <a:solidFill>
            <a:srgbClr val="FFFFFF"/>
          </a:solidFill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實驗範圍｜**原論文僅評估 </a:t>
            </a:r>
            <a:r>
              <a:rPr lang="en-US" altLang="zh-TW" dirty="0"/>
              <a:t>32×32 CIFAR-10</a:t>
            </a:r>
            <a:r>
              <a:rPr lang="zh-TW" altLang="en-US" dirty="0"/>
              <a:t>；</a:t>
            </a:r>
            <a:r>
              <a:rPr lang="en-US" altLang="zh-TW" dirty="0"/>
              <a:t>64×64</a:t>
            </a:r>
            <a:r>
              <a:rPr lang="zh-TW" altLang="en-US" dirty="0"/>
              <a:t>、</a:t>
            </a:r>
            <a:r>
              <a:rPr lang="en-US" altLang="zh-TW" dirty="0"/>
              <a:t>128×128 </a:t>
            </a:r>
            <a:r>
              <a:rPr lang="zh-TW" altLang="en-US" dirty="0"/>
              <a:t>與 </a:t>
            </a:r>
            <a:r>
              <a:rPr lang="en-US" altLang="zh-TW" dirty="0"/>
              <a:t>256×256 </a:t>
            </a:r>
            <a:r>
              <a:rPr lang="zh-TW" altLang="en-US" dirty="0"/>
              <a:t>為本研究延伸實作，並非原論文實驗結果。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eyebrow">
            <a:extLst>
              <a:ext uri="{FF2B5EF4-FFF2-40B4-BE49-F238E27FC236}">
                <a16:creationId xmlns:a16="http://schemas.microsoft.com/office/drawing/2014/main" id="{FDCAC360-C51F-4D6B-8EFF-B2BC782E0719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71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1769E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769E0"/>
                </a:solidFill>
                <a:latin typeface="Microsoft JhengHei"/>
                <a:ea typeface="Microsoft JhengHei"/>
                <a:cs typeface="Microsoft JhengHei"/>
              </a:rPr>
              <a:t>進度報告  |  AMD Versal VEK280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848B739-7257-4B2E-A93D-B47499087592}"/>
              </a:ext>
            </a:extLst>
          </p:cNvPr>
          <p:cNvSpPr>
            <a:spLocks noGrp="1"/>
          </p:cNvSpPr>
          <p:nvPr/>
        </p:nvSpPr>
        <p:spPr>
          <a:xfrm>
            <a:off x="457200" y="647700"/>
            <a:ext cx="112204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9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9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CKKS RNS 模乘加已完成實板驗證，下一步接入真實密文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E7864535-6E72-4FD9-9321-752EEA6B4253}"/>
              </a:ext>
            </a:extLst>
          </p:cNvPr>
          <p:cNvSpPr>
            <a:spLocks noGrp="1"/>
          </p:cNvSpPr>
          <p:nvPr/>
        </p:nvSpPr>
        <p:spPr>
          <a:xfrm>
            <a:off x="466725" y="1390650"/>
            <a:ext cx="11049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5F6B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F6B7A"/>
                </a:solidFill>
                <a:latin typeface="Microsoft JhengHei"/>
                <a:ea typeface="Microsoft JhengHei"/>
                <a:cs typeface="Microsoft JhengHei"/>
              </a:rPr>
              <a:t>目前定位：單一 55-bit RNS tower、8192 個 residues 的硬體加速核心；尚非完整 CKKS EvalMult。</a:t>
            </a:r>
          </a:p>
        </p:txBody>
      </p:sp>
      <p:cxnSp>
        <p:nvCxnSpPr>
          <p:cNvPr id="28" name="timeline-complete"/>
          <p:cNvCxnSpPr/>
          <p:nvPr/>
        </p:nvCxnSpPr>
        <p:spPr>
          <a:xfrm>
            <a:off x="666750" y="2790825"/>
            <a:ext cx="4781550" cy="95"/>
          </a:xfrm>
          <a:prstGeom prst="straightConnector1">
            <a:avLst/>
          </a:prstGeom>
          <a:ln w="47625">
            <a:solidFill>
              <a:srgbClr val="1769E0"/>
            </a:solidFill>
            <a:prstDash val="solid"/>
          </a:ln>
        </p:spPr>
      </p:cxnSp>
      <p:cxnSp>
        <p:nvCxnSpPr>
          <p:cNvPr id="29" name="timeline-active"/>
          <p:cNvCxnSpPr/>
          <p:nvPr/>
        </p:nvCxnSpPr>
        <p:spPr>
          <a:xfrm>
            <a:off x="5448300" y="2790825"/>
            <a:ext cx="3981450" cy="95"/>
          </a:xfrm>
          <a:prstGeom prst="straightConnector1">
            <a:avLst/>
          </a:prstGeom>
          <a:ln w="47625">
            <a:solidFill>
              <a:srgbClr val="6DCBF4"/>
            </a:solidFill>
            <a:prstDash val="solid"/>
          </a:ln>
        </p:spPr>
      </p:cxnSp>
      <p:cxnSp>
        <p:nvCxnSpPr>
          <p:cNvPr id="30" name="timeline-future"/>
          <p:cNvCxnSpPr/>
          <p:nvPr/>
        </p:nvCxnSpPr>
        <p:spPr>
          <a:xfrm>
            <a:off x="9429750" y="2790825"/>
            <a:ext cx="2095500" cy="95"/>
          </a:xfrm>
          <a:prstGeom prst="straightConnector1">
            <a:avLst/>
          </a:prstGeom>
          <a:ln w="19050">
            <a:solidFill>
              <a:srgbClr val="B8BCC4"/>
            </a:solidFill>
            <a:prstDash val="solid"/>
          </a:ln>
        </p:spPr>
      </p:cxnSp>
      <p:sp>
        <p:nvSpPr>
          <p:cNvPr id="7" name="status-1">
            <a:extLst>
              <a:ext uri="{FF2B5EF4-FFF2-40B4-BE49-F238E27FC236}">
                <a16:creationId xmlns:a16="http://schemas.microsoft.com/office/drawing/2014/main" id="{E4406B8C-BF5B-43BC-8776-F90C9E91474C}"/>
              </a:ext>
            </a:extLst>
          </p:cNvPr>
          <p:cNvSpPr>
            <a:spLocks noGrp="1"/>
          </p:cNvSpPr>
          <p:nvPr/>
        </p:nvSpPr>
        <p:spPr>
          <a:xfrm>
            <a:off x="647700" y="21145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1769E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769E0"/>
                </a:solidFill>
                <a:latin typeface="Microsoft JhengHei"/>
                <a:ea typeface="Microsoft JhengHei"/>
                <a:cs typeface="Microsoft JhengHei"/>
              </a:rPr>
              <a:t>01  已完成</a:t>
            </a:r>
          </a:p>
        </p:txBody>
      </p:sp>
      <p:sp>
        <p:nvSpPr>
          <p:cNvPr id="8" name="status-2">
            <a:extLst>
              <a:ext uri="{FF2B5EF4-FFF2-40B4-BE49-F238E27FC236}">
                <a16:creationId xmlns:a16="http://schemas.microsoft.com/office/drawing/2014/main" id="{6F9862B9-3A9B-4719-9A37-C92AD5B7AC96}"/>
              </a:ext>
            </a:extLst>
          </p:cNvPr>
          <p:cNvSpPr>
            <a:spLocks noGrp="1"/>
          </p:cNvSpPr>
          <p:nvPr/>
        </p:nvSpPr>
        <p:spPr>
          <a:xfrm>
            <a:off x="4476750" y="21145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1769E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769E0"/>
                </a:solidFill>
                <a:latin typeface="Microsoft JhengHei"/>
                <a:ea typeface="Microsoft JhengHei"/>
                <a:cs typeface="Microsoft JhengHei"/>
              </a:rPr>
              <a:t>02  已完成</a:t>
            </a:r>
          </a:p>
        </p:txBody>
      </p:sp>
      <p:sp>
        <p:nvSpPr>
          <p:cNvPr id="9" name="status-3">
            <a:extLst>
              <a:ext uri="{FF2B5EF4-FFF2-40B4-BE49-F238E27FC236}">
                <a16:creationId xmlns:a16="http://schemas.microsoft.com/office/drawing/2014/main" id="{67EE0C84-D337-4E4A-83BB-D5B2FA928E52}"/>
              </a:ext>
            </a:extLst>
          </p:cNvPr>
          <p:cNvSpPr>
            <a:spLocks noGrp="1"/>
          </p:cNvSpPr>
          <p:nvPr/>
        </p:nvSpPr>
        <p:spPr>
          <a:xfrm>
            <a:off x="8305800" y="21145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D9770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D97706"/>
                </a:solidFill>
                <a:latin typeface="Microsoft JhengHei"/>
                <a:ea typeface="Microsoft JhengHei"/>
                <a:cs typeface="Microsoft JhengHei"/>
              </a:rPr>
              <a:t>03  進行中</a:t>
            </a:r>
          </a:p>
        </p:txBody>
      </p:sp>
      <p:sp>
        <p:nvSpPr>
          <p:cNvPr id="10" name="milestone-1">
            <a:extLst>
              <a:ext uri="{FF2B5EF4-FFF2-40B4-BE49-F238E27FC236}">
                <a16:creationId xmlns:a16="http://schemas.microsoft.com/office/drawing/2014/main" id="{289ACF9D-14D9-43DB-856E-20A3B940B7F8}"/>
              </a:ext>
            </a:extLst>
          </p:cNvPr>
          <p:cNvSpPr>
            <a:spLocks noGrp="1"/>
          </p:cNvSpPr>
          <p:nvPr/>
        </p:nvSpPr>
        <p:spPr>
          <a:xfrm>
            <a:off x="590550" y="2676525"/>
            <a:ext cx="228600" cy="228600"/>
          </a:xfrm>
          <a:prstGeom prst="ellipse">
            <a:avLst/>
          </a:prstGeom>
          <a:solidFill>
            <a:srgbClr val="1769E0"/>
          </a:solidFill>
          <a:ln w="0">
            <a:solidFill>
              <a:srgbClr val="1769E0"/>
            </a:solidFill>
            <a:prstDash val="solid"/>
          </a:ln>
        </p:spPr>
      </p:sp>
      <p:sp>
        <p:nvSpPr>
          <p:cNvPr id="11" name="milestone-2">
            <a:extLst>
              <a:ext uri="{FF2B5EF4-FFF2-40B4-BE49-F238E27FC236}">
                <a16:creationId xmlns:a16="http://schemas.microsoft.com/office/drawing/2014/main" id="{F6FCA446-5276-4B66-BF3D-126785A0D7E3}"/>
              </a:ext>
            </a:extLst>
          </p:cNvPr>
          <p:cNvSpPr>
            <a:spLocks noGrp="1"/>
          </p:cNvSpPr>
          <p:nvPr/>
        </p:nvSpPr>
        <p:spPr>
          <a:xfrm>
            <a:off x="5372100" y="2676525"/>
            <a:ext cx="228600" cy="228600"/>
          </a:xfrm>
          <a:prstGeom prst="ellipse">
            <a:avLst/>
          </a:prstGeom>
          <a:solidFill>
            <a:srgbClr val="1769E0"/>
          </a:solidFill>
          <a:ln w="0">
            <a:solidFill>
              <a:srgbClr val="1769E0"/>
            </a:solidFill>
            <a:prstDash val="solid"/>
          </a:ln>
        </p:spPr>
      </p:sp>
      <p:sp>
        <p:nvSpPr>
          <p:cNvPr id="12" name="milestone-3">
            <a:extLst>
              <a:ext uri="{FF2B5EF4-FFF2-40B4-BE49-F238E27FC236}">
                <a16:creationId xmlns:a16="http://schemas.microsoft.com/office/drawing/2014/main" id="{355437D7-EB1E-4722-8669-14BD9CA09237}"/>
              </a:ext>
            </a:extLst>
          </p:cNvPr>
          <p:cNvSpPr>
            <a:spLocks noGrp="1"/>
          </p:cNvSpPr>
          <p:nvPr/>
        </p:nvSpPr>
        <p:spPr>
          <a:xfrm>
            <a:off x="9315450" y="2676525"/>
            <a:ext cx="228600" cy="228600"/>
          </a:xfrm>
          <a:prstGeom prst="ellipse">
            <a:avLst/>
          </a:prstGeom>
          <a:solidFill>
            <a:srgbClr val="FFFFFF"/>
          </a:solidFill>
          <a:ln w="47625">
            <a:solidFill>
              <a:srgbClr val="D97706"/>
            </a:solidFill>
            <a:prstDash val="solid"/>
          </a:ln>
        </p:spPr>
      </p:sp>
      <p:sp>
        <p:nvSpPr>
          <p:cNvPr id="13" name="heading-1">
            <a:extLst>
              <a:ext uri="{FF2B5EF4-FFF2-40B4-BE49-F238E27FC236}">
                <a16:creationId xmlns:a16="http://schemas.microsoft.com/office/drawing/2014/main" id="{8A911E5F-67E5-40A6-8D88-E7B8E1555292}"/>
              </a:ext>
            </a:extLst>
          </p:cNvPr>
          <p:cNvSpPr>
            <a:spLocks noGrp="1"/>
          </p:cNvSpPr>
          <p:nvPr/>
        </p:nvSpPr>
        <p:spPr>
          <a:xfrm>
            <a:off x="647700" y="3257550"/>
            <a:ext cx="3143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0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HLS 運算核心</a:t>
            </a:r>
          </a:p>
        </p:txBody>
      </p:sp>
      <p:sp>
        <p:nvSpPr>
          <p:cNvPr id="14" name="formula">
            <a:extLst>
              <a:ext uri="{FF2B5EF4-FFF2-40B4-BE49-F238E27FC236}">
                <a16:creationId xmlns:a16="http://schemas.microsoft.com/office/drawing/2014/main" id="{715F52AA-F537-4D0D-8A82-9797C904B68E}"/>
              </a:ext>
            </a:extLst>
          </p:cNvPr>
          <p:cNvSpPr>
            <a:spLocks noGrp="1"/>
          </p:cNvSpPr>
          <p:nvPr/>
        </p:nvSpPr>
        <p:spPr>
          <a:xfrm>
            <a:off x="647700" y="3705225"/>
            <a:ext cx="3143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1">
                <a:solidFill>
                  <a:srgbClr val="1769E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769E0"/>
                </a:solidFill>
                <a:latin typeface="Microsoft JhengHei"/>
                <a:ea typeface="Microsoft JhengHei"/>
                <a:cs typeface="Microsoft JhengHei"/>
              </a:rPr>
              <a:t>out[i] = (acc[i] + a[i] × b[i]) mod q</a:t>
            </a:r>
          </a:p>
        </p:txBody>
      </p:sp>
      <p:sp>
        <p:nvSpPr>
          <p:cNvPr id="15" name="body-1">
            <a:extLst>
              <a:ext uri="{FF2B5EF4-FFF2-40B4-BE49-F238E27FC236}">
                <a16:creationId xmlns:a16="http://schemas.microsoft.com/office/drawing/2014/main" id="{A1EDE7DF-9BA2-4B6D-BD18-81548CA77B02}"/>
              </a:ext>
            </a:extLst>
          </p:cNvPr>
          <p:cNvSpPr>
            <a:spLocks noGrp="1"/>
          </p:cNvSpPr>
          <p:nvPr/>
        </p:nvSpPr>
        <p:spPr>
          <a:xfrm>
            <a:off x="647700" y="4219575"/>
            <a:ext cx="31432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• Ring dimension：8192</a:t>
            </a:r>
          </a:p>
          <a:p>
            <a:pPr algn="l">
              <a:def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• Pipeline：II = 1</a:t>
            </a:r>
          </a:p>
          <a:p>
            <a:pPr algn="l">
              <a:def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• C simulation 與 C/RTL co-simulation：8192 / 8192 通過</a:t>
            </a:r>
          </a:p>
        </p:txBody>
      </p:sp>
      <p:sp>
        <p:nvSpPr>
          <p:cNvPr id="16" name="heading-2">
            <a:extLst>
              <a:ext uri="{FF2B5EF4-FFF2-40B4-BE49-F238E27FC236}">
                <a16:creationId xmlns:a16="http://schemas.microsoft.com/office/drawing/2014/main" id="{6D94652D-84FC-4FBA-91E0-74CBB2B46FBF}"/>
              </a:ext>
            </a:extLst>
          </p:cNvPr>
          <p:cNvSpPr>
            <a:spLocks noGrp="1"/>
          </p:cNvSpPr>
          <p:nvPr/>
        </p:nvSpPr>
        <p:spPr>
          <a:xfrm>
            <a:off x="4476750" y="3257550"/>
            <a:ext cx="3143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0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VEK280 實板驗證</a:t>
            </a:r>
          </a:p>
        </p:txBody>
      </p:sp>
      <p:sp>
        <p:nvSpPr>
          <p:cNvPr id="17" name="artifacts">
            <a:extLst>
              <a:ext uri="{FF2B5EF4-FFF2-40B4-BE49-F238E27FC236}">
                <a16:creationId xmlns:a16="http://schemas.microsoft.com/office/drawing/2014/main" id="{B984D0B0-8BAB-4F94-85F2-43B14F4DBE09}"/>
              </a:ext>
            </a:extLst>
          </p:cNvPr>
          <p:cNvSpPr>
            <a:spLocks noGrp="1"/>
          </p:cNvSpPr>
          <p:nvPr/>
        </p:nvSpPr>
        <p:spPr>
          <a:xfrm>
            <a:off x="4476750" y="3705225"/>
            <a:ext cx="3143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1769E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769E0"/>
                </a:solidFill>
                <a:latin typeface="Microsoft JhengHei"/>
                <a:ea typeface="Microsoft JhengHei"/>
                <a:cs typeface="Microsoft JhengHei"/>
              </a:rPr>
              <a:t>Vivado：PDI   ＋   Vitis：ELF</a:t>
            </a:r>
          </a:p>
        </p:txBody>
      </p:sp>
      <p:sp>
        <p:nvSpPr>
          <p:cNvPr id="18" name="body-2">
            <a:extLst>
              <a:ext uri="{FF2B5EF4-FFF2-40B4-BE49-F238E27FC236}">
                <a16:creationId xmlns:a16="http://schemas.microsoft.com/office/drawing/2014/main" id="{BFB4F398-57A5-4DD6-98C0-F4EE5123D2C0}"/>
              </a:ext>
            </a:extLst>
          </p:cNvPr>
          <p:cNvSpPr>
            <a:spLocks noGrp="1"/>
          </p:cNvSpPr>
          <p:nvPr/>
        </p:nvSpPr>
        <p:spPr>
          <a:xfrm>
            <a:off x="4476750" y="4219575"/>
            <a:ext cx="32385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• CIPS、NoC、LPDDR4 與 HLS IP 整合</a:t>
            </a:r>
          </a:p>
          <a:p>
            <a:pPr algn="l">
              <a:def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• Implementation timing 通過：WNS +0.631 ns</a:t>
            </a:r>
          </a:p>
          <a:p>
            <a:pPr algn="l">
              <a:def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• UART：PASS，8192 筆模乘加結果全數一致</a:t>
            </a:r>
          </a:p>
        </p:txBody>
      </p:sp>
      <p:sp>
        <p:nvSpPr>
          <p:cNvPr id="19" name="heading-3">
            <a:extLst>
              <a:ext uri="{FF2B5EF4-FFF2-40B4-BE49-F238E27FC236}">
                <a16:creationId xmlns:a16="http://schemas.microsoft.com/office/drawing/2014/main" id="{CBA7E998-D6C1-41E4-8B7B-5E9159C7F0EC}"/>
              </a:ext>
            </a:extLst>
          </p:cNvPr>
          <p:cNvSpPr>
            <a:spLocks noGrp="1"/>
          </p:cNvSpPr>
          <p:nvPr/>
        </p:nvSpPr>
        <p:spPr>
          <a:xfrm>
            <a:off x="8305800" y="3257550"/>
            <a:ext cx="3238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0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OpenFHE 密文整合</a:t>
            </a:r>
          </a:p>
        </p:txBody>
      </p:sp>
      <p:sp>
        <p:nvSpPr>
          <p:cNvPr id="20" name="flow-3">
            <a:extLst>
              <a:ext uri="{FF2B5EF4-FFF2-40B4-BE49-F238E27FC236}">
                <a16:creationId xmlns:a16="http://schemas.microsoft.com/office/drawing/2014/main" id="{12F766E0-EF01-40D3-B512-0B1C4C7D0027}"/>
              </a:ext>
            </a:extLst>
          </p:cNvPr>
          <p:cNvSpPr>
            <a:spLocks noGrp="1"/>
          </p:cNvSpPr>
          <p:nvPr/>
        </p:nvSpPr>
        <p:spPr>
          <a:xfrm>
            <a:off x="8305800" y="3705225"/>
            <a:ext cx="3238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D9770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D97706"/>
                </a:solidFill>
                <a:latin typeface="Microsoft JhengHei"/>
                <a:ea typeface="Microsoft JhengHei"/>
                <a:cs typeface="Microsoft JhengHei"/>
              </a:rPr>
              <a:t>c₀ / c₁ → DCRTPoly → RNS towers</a:t>
            </a:r>
          </a:p>
        </p:txBody>
      </p:sp>
      <p:sp>
        <p:nvSpPr>
          <p:cNvPr id="21" name="body-3">
            <a:extLst>
              <a:ext uri="{FF2B5EF4-FFF2-40B4-BE49-F238E27FC236}">
                <a16:creationId xmlns:a16="http://schemas.microsoft.com/office/drawing/2014/main" id="{BF5E694B-B4CC-4B3A-840C-9B436BF8CC3B}"/>
              </a:ext>
            </a:extLst>
          </p:cNvPr>
          <p:cNvSpPr>
            <a:spLocks noGrp="1"/>
          </p:cNvSpPr>
          <p:nvPr/>
        </p:nvSpPr>
        <p:spPr>
          <a:xfrm>
            <a:off x="8305800" y="4219575"/>
            <a:ext cx="32385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• 取代目前的隨機 RNS residues</a:t>
            </a:r>
          </a:p>
          <a:p>
            <a:pPr algn="l">
              <a:def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• 對齊 modulus、tower 順序與 NTT／evaluation 格式</a:t>
            </a:r>
          </a:p>
          <a:p>
            <a:pPr algn="l">
              <a:def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• 先完成單一 tower bit-exact，再擴充多 tower</a:t>
            </a:r>
          </a:p>
        </p:txBody>
      </p:sp>
      <p:sp>
        <p:nvSpPr>
          <p:cNvPr id="22" name="takeaway-band">
            <a:extLst>
              <a:ext uri="{FF2B5EF4-FFF2-40B4-BE49-F238E27FC236}">
                <a16:creationId xmlns:a16="http://schemas.microsoft.com/office/drawing/2014/main" id="{662CF2AC-010F-4243-BA1F-3163B9051EF7}"/>
              </a:ext>
            </a:extLst>
          </p:cNvPr>
          <p:cNvSpPr>
            <a:spLocks noGrp="1"/>
          </p:cNvSpPr>
          <p:nvPr/>
        </p:nvSpPr>
        <p:spPr>
          <a:xfrm>
            <a:off x="457200" y="5781675"/>
            <a:ext cx="11087100" cy="590550"/>
          </a:xfrm>
          <a:prstGeom prst="rect">
            <a:avLst/>
          </a:prstGeom>
          <a:solidFill>
            <a:srgbClr val="D9EAFF"/>
          </a:solidFill>
          <a:ln w="0">
            <a:solidFill>
              <a:srgbClr val="D9EAFF"/>
            </a:solidFill>
            <a:prstDash val="solid"/>
          </a:ln>
        </p:spPr>
      </p:sp>
      <p:sp>
        <p:nvSpPr>
          <p:cNvPr id="23" name="takeaway">
            <a:extLst>
              <a:ext uri="{FF2B5EF4-FFF2-40B4-BE49-F238E27FC236}">
                <a16:creationId xmlns:a16="http://schemas.microsoft.com/office/drawing/2014/main" id="{14A48078-E49B-4D0C-B4D4-87E36798C9AF}"/>
              </a:ext>
            </a:extLst>
          </p:cNvPr>
          <p:cNvSpPr>
            <a:spLocks noGrp="1"/>
          </p:cNvSpPr>
          <p:nvPr/>
        </p:nvSpPr>
        <p:spPr>
          <a:xfrm>
            <a:off x="685800" y="5953125"/>
            <a:ext cx="10629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4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目前成果證明硬體資料路徑與控制流程可行；研究重點正由合成測試向量，轉向 OpenFHE 真實 CKKS 密文資料。</a:t>
            </a:r>
          </a:p>
        </p:txBody>
      </p:sp>
      <p:sp>
        <p:nvSpPr>
          <p:cNvPr id="24" name="page-number">
            <a:extLst>
              <a:ext uri="{FF2B5EF4-FFF2-40B4-BE49-F238E27FC236}">
                <a16:creationId xmlns:a16="http://schemas.microsoft.com/office/drawing/2014/main" id="{A2EC37CA-09BA-4079-A47B-02E1F52C64A8}"/>
              </a:ext>
            </a:extLst>
          </p:cNvPr>
          <p:cNvSpPr>
            <a:spLocks noGrp="1"/>
          </p:cNvSpPr>
          <p:nvPr/>
        </p:nvSpPr>
        <p:spPr>
          <a:xfrm>
            <a:off x="11239500" y="6505575"/>
            <a:ext cx="304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5F6B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5F6B7A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48057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akeaway-title">
            <a:extLst>
              <a:ext uri="{FF2B5EF4-FFF2-40B4-BE49-F238E27FC236}">
                <a16:creationId xmlns:a16="http://schemas.microsoft.com/office/drawing/2014/main" id="{7216ACE9-19BB-4C33-9DCD-DCF6C91A6D84}"/>
              </a:ext>
            </a:extLst>
          </p:cNvPr>
          <p:cNvSpPr>
            <a:spLocks noGrp="1"/>
          </p:cNvSpPr>
          <p:nvPr/>
        </p:nvSpPr>
        <p:spPr>
          <a:xfrm>
            <a:off x="495300" y="266700"/>
            <a:ext cx="11144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3000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2400" dirty="0"/>
              <a:t>論文方法復現 </a:t>
            </a:r>
            <a:r>
              <a:rPr lang="en-US" altLang="zh-TW" sz="900" dirty="0"/>
              <a:t>(Encrypted Image Classification with Low Memory Footprint Using Fully Homomorphic </a:t>
            </a:r>
            <a:r>
              <a:rPr lang="en-US" altLang="zh-TW" sz="800" dirty="0"/>
              <a:t>Encryption)</a:t>
            </a:r>
            <a:endParaRPr lang="en-US" altLang="zh-TW" sz="800" b="1" dirty="0">
              <a:solidFill>
                <a:srgbClr val="000000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graphicFrame>
        <p:nvGraphicFramePr>
          <p:cNvPr id="24" name="Chart"/>
          <p:cNvGraphicFramePr/>
          <p:nvPr>
            <p:extLst>
              <p:ext uri="{D42A27DB-BD31-4B8C-83A1-F6EECF244321}">
                <p14:modId xmlns:p14="http://schemas.microsoft.com/office/powerpoint/2010/main" val="4261021449"/>
              </p:ext>
            </p:extLst>
          </p:nvPr>
        </p:nvGraphicFramePr>
        <p:xfrm>
          <a:off x="495300" y="857250"/>
          <a:ext cx="5905500" cy="4629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cause-card-1">
            <a:extLst>
              <a:ext uri="{FF2B5EF4-FFF2-40B4-BE49-F238E27FC236}">
                <a16:creationId xmlns:a16="http://schemas.microsoft.com/office/drawing/2014/main" id="{23BE1A09-2DE9-499D-A382-7B5ACD7ED629}"/>
              </a:ext>
            </a:extLst>
          </p:cNvPr>
          <p:cNvSpPr>
            <a:spLocks noGrp="1"/>
          </p:cNvSpPr>
          <p:nvPr/>
        </p:nvSpPr>
        <p:spPr>
          <a:xfrm>
            <a:off x="6667500" y="1162050"/>
            <a:ext cx="4972050" cy="1371600"/>
          </a:xfrm>
          <a:prstGeom prst="roundRect">
            <a:avLst>
              <a:gd name="adj" fmla="val 5556"/>
            </a:avLst>
          </a:prstGeom>
          <a:solidFill>
            <a:srgbClr val="F2F2F2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5" name="cause-accent-1">
            <a:extLst>
              <a:ext uri="{FF2B5EF4-FFF2-40B4-BE49-F238E27FC236}">
                <a16:creationId xmlns:a16="http://schemas.microsoft.com/office/drawing/2014/main" id="{5F7A2CEF-9FF8-42E1-925A-95586894F301}"/>
              </a:ext>
            </a:extLst>
          </p:cNvPr>
          <p:cNvSpPr>
            <a:spLocks noGrp="1"/>
          </p:cNvSpPr>
          <p:nvPr/>
        </p:nvSpPr>
        <p:spPr>
          <a:xfrm>
            <a:off x="6667500" y="1162050"/>
            <a:ext cx="76200" cy="1371600"/>
          </a:xfrm>
          <a:prstGeom prst="rect">
            <a:avLst/>
          </a:prstGeom>
          <a:solidFill>
            <a:srgbClr val="6DCBF4"/>
          </a:solidFill>
          <a:ln w="0">
            <a:solidFill>
              <a:srgbClr val="6DCBF4"/>
            </a:solidFill>
            <a:prstDash val="solid"/>
          </a:ln>
        </p:spPr>
      </p:sp>
      <p:sp>
        <p:nvSpPr>
          <p:cNvPr id="6" name="cause-number-1">
            <a:extLst>
              <a:ext uri="{FF2B5EF4-FFF2-40B4-BE49-F238E27FC236}">
                <a16:creationId xmlns:a16="http://schemas.microsoft.com/office/drawing/2014/main" id="{F9A9F684-D242-4C87-857E-2F065B071B59}"/>
              </a:ext>
            </a:extLst>
          </p:cNvPr>
          <p:cNvSpPr>
            <a:spLocks noGrp="1"/>
          </p:cNvSpPr>
          <p:nvPr/>
        </p:nvSpPr>
        <p:spPr>
          <a:xfrm>
            <a:off x="6934200" y="1333500"/>
            <a:ext cx="1524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650" b="1">
                <a:solidFill>
                  <a:srgbClr val="6DCBF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6DCBF4"/>
                </a:solidFill>
                <a:latin typeface="Microsoft JhengHei"/>
                <a:ea typeface="Microsoft JhengHei"/>
                <a:cs typeface="Microsoft JhengHei"/>
              </a:rPr>
              <a:t>32→64</a:t>
            </a:r>
          </a:p>
        </p:txBody>
      </p:sp>
      <p:sp>
        <p:nvSpPr>
          <p:cNvPr id="7" name="cause-title-1">
            <a:extLst>
              <a:ext uri="{FF2B5EF4-FFF2-40B4-BE49-F238E27FC236}">
                <a16:creationId xmlns:a16="http://schemas.microsoft.com/office/drawing/2014/main" id="{BCE7E42C-EDA5-40C0-88D8-F2192C9A2AC2}"/>
              </a:ext>
            </a:extLst>
          </p:cNvPr>
          <p:cNvSpPr>
            <a:spLocks noGrp="1"/>
          </p:cNvSpPr>
          <p:nvPr/>
        </p:nvSpPr>
        <p:spPr>
          <a:xfrm>
            <a:off x="8147488" y="1343025"/>
            <a:ext cx="3682562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650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 dirty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SIMD slots</a:t>
            </a:r>
            <a:r>
              <a:rPr lang="zh-TW" altLang="en-US" dirty="0"/>
              <a:t>部分抵銷像素增加的成本</a:t>
            </a:r>
            <a:endParaRPr sz="1650" b="1" dirty="0">
              <a:solidFill>
                <a:srgbClr val="000000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8" name="cause-body-1">
            <a:extLst>
              <a:ext uri="{FF2B5EF4-FFF2-40B4-BE49-F238E27FC236}">
                <a16:creationId xmlns:a16="http://schemas.microsoft.com/office/drawing/2014/main" id="{725C6FDA-972B-437D-8C55-2CE252FFA1C8}"/>
              </a:ext>
            </a:extLst>
          </p:cNvPr>
          <p:cNvSpPr>
            <a:spLocks noGrp="1"/>
          </p:cNvSpPr>
          <p:nvPr/>
        </p:nvSpPr>
        <p:spPr>
          <a:xfrm>
            <a:off x="6934200" y="1809750"/>
            <a:ext cx="4286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350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dirty="0" err="1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rPr>
              <a:t>像素數增加</a:t>
            </a:r>
            <a:r>
              <a:rPr sz="1350" dirty="0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rPr>
              <a:t> 4×，</a:t>
            </a:r>
            <a:r>
              <a:rPr sz="1350" dirty="0" err="1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rPr>
              <a:t>但仍能利用</a:t>
            </a:r>
            <a:r>
              <a:rPr sz="1350" dirty="0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rPr>
              <a:t> ciphertext </a:t>
            </a:r>
            <a:r>
              <a:rPr sz="1350" dirty="0" err="1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rPr>
              <a:t>的空</a:t>
            </a:r>
            <a:r>
              <a:rPr sz="1350" dirty="0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1350" dirty="0" err="1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rPr>
              <a:t>slots，時間只增加</a:t>
            </a:r>
            <a:r>
              <a:rPr sz="1350" dirty="0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rPr>
              <a:t> 1.88×。</a:t>
            </a:r>
          </a:p>
        </p:txBody>
      </p:sp>
      <p:sp>
        <p:nvSpPr>
          <p:cNvPr id="9" name="cause-card-2">
            <a:extLst>
              <a:ext uri="{FF2B5EF4-FFF2-40B4-BE49-F238E27FC236}">
                <a16:creationId xmlns:a16="http://schemas.microsoft.com/office/drawing/2014/main" id="{8DCC68FC-3CB7-4996-B279-2DA40721BA5F}"/>
              </a:ext>
            </a:extLst>
          </p:cNvPr>
          <p:cNvSpPr>
            <a:spLocks noGrp="1"/>
          </p:cNvSpPr>
          <p:nvPr/>
        </p:nvSpPr>
        <p:spPr>
          <a:xfrm>
            <a:off x="6667500" y="2724150"/>
            <a:ext cx="4972050" cy="1371600"/>
          </a:xfrm>
          <a:prstGeom prst="roundRect">
            <a:avLst>
              <a:gd name="adj" fmla="val 5556"/>
            </a:avLst>
          </a:prstGeom>
          <a:solidFill>
            <a:srgbClr val="F2F2F2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10" name="cause-accent-2">
            <a:extLst>
              <a:ext uri="{FF2B5EF4-FFF2-40B4-BE49-F238E27FC236}">
                <a16:creationId xmlns:a16="http://schemas.microsoft.com/office/drawing/2014/main" id="{9021AF14-BB6D-494C-9DBE-7E7951486FFF}"/>
              </a:ext>
            </a:extLst>
          </p:cNvPr>
          <p:cNvSpPr>
            <a:spLocks noGrp="1"/>
          </p:cNvSpPr>
          <p:nvPr/>
        </p:nvSpPr>
        <p:spPr>
          <a:xfrm>
            <a:off x="6667500" y="2724150"/>
            <a:ext cx="76200" cy="1371600"/>
          </a:xfrm>
          <a:prstGeom prst="rect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</p:sp>
      <p:sp>
        <p:nvSpPr>
          <p:cNvPr id="11" name="cause-number-2">
            <a:extLst>
              <a:ext uri="{FF2B5EF4-FFF2-40B4-BE49-F238E27FC236}">
                <a16:creationId xmlns:a16="http://schemas.microsoft.com/office/drawing/2014/main" id="{28161FE3-9BAC-4148-AA8B-4AB16B7F65AC}"/>
              </a:ext>
            </a:extLst>
          </p:cNvPr>
          <p:cNvSpPr>
            <a:spLocks noGrp="1"/>
          </p:cNvSpPr>
          <p:nvPr/>
        </p:nvSpPr>
        <p:spPr>
          <a:xfrm>
            <a:off x="6934200" y="2895600"/>
            <a:ext cx="1524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650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rPr>
              <a:t>64→128</a:t>
            </a:r>
          </a:p>
        </p:txBody>
      </p:sp>
      <p:sp>
        <p:nvSpPr>
          <p:cNvPr id="12" name="cause-title-2">
            <a:extLst>
              <a:ext uri="{FF2B5EF4-FFF2-40B4-BE49-F238E27FC236}">
                <a16:creationId xmlns:a16="http://schemas.microsoft.com/office/drawing/2014/main" id="{7D42A38E-54C9-4785-90B9-85F2361A0BE1}"/>
              </a:ext>
            </a:extLst>
          </p:cNvPr>
          <p:cNvSpPr>
            <a:spLocks noGrp="1"/>
          </p:cNvSpPr>
          <p:nvPr/>
        </p:nvSpPr>
        <p:spPr>
          <a:xfrm>
            <a:off x="8524875" y="2895600"/>
            <a:ext cx="27146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650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 dirty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ciphertext shards </a:t>
            </a:r>
            <a:r>
              <a:rPr lang="zh-TW" altLang="en-US" sz="1650" b="1" dirty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增加</a:t>
            </a:r>
            <a:endParaRPr sz="1650" b="1" dirty="0">
              <a:solidFill>
                <a:srgbClr val="000000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3" name="cause-body-2">
            <a:extLst>
              <a:ext uri="{FF2B5EF4-FFF2-40B4-BE49-F238E27FC236}">
                <a16:creationId xmlns:a16="http://schemas.microsoft.com/office/drawing/2014/main" id="{CC843FDF-9E2B-440D-BC76-6FC3D2CDE31B}"/>
              </a:ext>
            </a:extLst>
          </p:cNvPr>
          <p:cNvSpPr>
            <a:spLocks noGrp="1"/>
          </p:cNvSpPr>
          <p:nvPr/>
        </p:nvSpPr>
        <p:spPr>
          <a:xfrm>
            <a:off x="6934200" y="3371850"/>
            <a:ext cx="4286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350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rPr>
              <a:t>Stage 1 從 4 增至 16 個 shards；每份都要執行 rotation、乘法與 bootstrap。</a:t>
            </a:r>
          </a:p>
        </p:txBody>
      </p:sp>
      <p:sp>
        <p:nvSpPr>
          <p:cNvPr id="14" name="cause-card-3">
            <a:extLst>
              <a:ext uri="{FF2B5EF4-FFF2-40B4-BE49-F238E27FC236}">
                <a16:creationId xmlns:a16="http://schemas.microsoft.com/office/drawing/2014/main" id="{0F6071A5-5454-4FAE-BAD4-9ECAF55899CD}"/>
              </a:ext>
            </a:extLst>
          </p:cNvPr>
          <p:cNvSpPr>
            <a:spLocks noGrp="1"/>
          </p:cNvSpPr>
          <p:nvPr/>
        </p:nvSpPr>
        <p:spPr>
          <a:xfrm>
            <a:off x="6667500" y="4286250"/>
            <a:ext cx="4972050" cy="1371600"/>
          </a:xfrm>
          <a:prstGeom prst="roundRect">
            <a:avLst>
              <a:gd name="adj" fmla="val 5556"/>
            </a:avLst>
          </a:prstGeom>
          <a:solidFill>
            <a:srgbClr val="F2F2F2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15" name="cause-accent-3">
            <a:extLst>
              <a:ext uri="{FF2B5EF4-FFF2-40B4-BE49-F238E27FC236}">
                <a16:creationId xmlns:a16="http://schemas.microsoft.com/office/drawing/2014/main" id="{31C55DBC-717E-4578-97ED-88DB33621475}"/>
              </a:ext>
            </a:extLst>
          </p:cNvPr>
          <p:cNvSpPr>
            <a:spLocks noGrp="1"/>
          </p:cNvSpPr>
          <p:nvPr/>
        </p:nvSpPr>
        <p:spPr>
          <a:xfrm>
            <a:off x="6667500" y="4286250"/>
            <a:ext cx="76200" cy="1371600"/>
          </a:xfrm>
          <a:prstGeom prst="rect">
            <a:avLst/>
          </a:prstGeom>
          <a:solidFill>
            <a:srgbClr val="1756B3"/>
          </a:solidFill>
          <a:ln w="0">
            <a:solidFill>
              <a:srgbClr val="1756B3"/>
            </a:solidFill>
            <a:prstDash val="solid"/>
          </a:ln>
        </p:spPr>
      </p:sp>
      <p:sp>
        <p:nvSpPr>
          <p:cNvPr id="16" name="cause-number-3">
            <a:extLst>
              <a:ext uri="{FF2B5EF4-FFF2-40B4-BE49-F238E27FC236}">
                <a16:creationId xmlns:a16="http://schemas.microsoft.com/office/drawing/2014/main" id="{360BD9DA-1734-4CE6-8476-260599BE1D8E}"/>
              </a:ext>
            </a:extLst>
          </p:cNvPr>
          <p:cNvSpPr>
            <a:spLocks noGrp="1"/>
          </p:cNvSpPr>
          <p:nvPr/>
        </p:nvSpPr>
        <p:spPr>
          <a:xfrm>
            <a:off x="6934200" y="4457700"/>
            <a:ext cx="1524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650" b="1">
                <a:solidFill>
                  <a:srgbClr val="1756B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756B3"/>
                </a:solidFill>
                <a:latin typeface="Microsoft JhengHei"/>
                <a:ea typeface="Microsoft JhengHei"/>
                <a:cs typeface="Microsoft JhengHei"/>
              </a:rPr>
              <a:t>128→256</a:t>
            </a:r>
          </a:p>
        </p:txBody>
      </p:sp>
      <p:sp>
        <p:nvSpPr>
          <p:cNvPr id="17" name="cause-title-3">
            <a:extLst>
              <a:ext uri="{FF2B5EF4-FFF2-40B4-BE49-F238E27FC236}">
                <a16:creationId xmlns:a16="http://schemas.microsoft.com/office/drawing/2014/main" id="{CFE39DC5-0411-485B-925E-32E84077C584}"/>
              </a:ext>
            </a:extLst>
          </p:cNvPr>
          <p:cNvSpPr>
            <a:spLocks noGrp="1"/>
          </p:cNvSpPr>
          <p:nvPr/>
        </p:nvSpPr>
        <p:spPr>
          <a:xfrm>
            <a:off x="8524875" y="4457700"/>
            <a:ext cx="27146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650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ring、I/O 同時放大</a:t>
            </a:r>
          </a:p>
        </p:txBody>
      </p:sp>
      <p:sp>
        <p:nvSpPr>
          <p:cNvPr id="18" name="cause-body-3">
            <a:extLst>
              <a:ext uri="{FF2B5EF4-FFF2-40B4-BE49-F238E27FC236}">
                <a16:creationId xmlns:a16="http://schemas.microsoft.com/office/drawing/2014/main" id="{1754FA5D-83DB-4110-9941-37640BE9F178}"/>
              </a:ext>
            </a:extLst>
          </p:cNvPr>
          <p:cNvSpPr>
            <a:spLocks noGrp="1"/>
          </p:cNvSpPr>
          <p:nvPr/>
        </p:nvSpPr>
        <p:spPr>
          <a:xfrm>
            <a:off x="6934200" y="4933950"/>
            <a:ext cx="4286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350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</a:rPr>
              <a:t>ring dimension 2¹⁶→2¹⁷；RSS 20.9 GiB、major page faults 7.83M，磁碟等待拉長時間。</a:t>
            </a:r>
          </a:p>
        </p:txBody>
      </p:sp>
      <p:sp>
        <p:nvSpPr>
          <p:cNvPr id="19" name="conclusion-rule">
            <a:extLst>
              <a:ext uri="{FF2B5EF4-FFF2-40B4-BE49-F238E27FC236}">
                <a16:creationId xmlns:a16="http://schemas.microsoft.com/office/drawing/2014/main" id="{B73C4860-3F6B-4C98-85A5-0FC42C9B3949}"/>
              </a:ext>
            </a:extLst>
          </p:cNvPr>
          <p:cNvSpPr>
            <a:spLocks noGrp="1"/>
          </p:cNvSpPr>
          <p:nvPr/>
        </p:nvSpPr>
        <p:spPr>
          <a:xfrm>
            <a:off x="495300" y="5753100"/>
            <a:ext cx="11144250" cy="19050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</p:sp>
      <p:sp>
        <p:nvSpPr>
          <p:cNvPr id="20" name="conclusion">
            <a:extLst>
              <a:ext uri="{FF2B5EF4-FFF2-40B4-BE49-F238E27FC236}">
                <a16:creationId xmlns:a16="http://schemas.microsoft.com/office/drawing/2014/main" id="{3098400D-08F9-456C-9E54-D7659D695CC6}"/>
              </a:ext>
            </a:extLst>
          </p:cNvPr>
          <p:cNvSpPr>
            <a:spLocks noGrp="1"/>
          </p:cNvSpPr>
          <p:nvPr/>
        </p:nvSpPr>
        <p:spPr>
          <a:xfrm>
            <a:off x="495300" y="5831928"/>
            <a:ext cx="105251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lnSpc>
                <a:spcPct val="150000"/>
              </a:lnSpc>
              <a:defRPr sz="1350" b="1">
                <a:solidFill>
                  <a:srgbClr val="2222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00" dirty="0" err="1">
                <a:solidFill>
                  <a:srgbClr val="222222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Microsoft JhengHei"/>
              </a:rPr>
              <a:t>結論</a:t>
            </a:r>
            <a:r>
              <a:rPr lang="zh-TW" altLang="en-US" sz="1400" dirty="0">
                <a:solidFill>
                  <a:srgbClr val="222222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Microsoft JhengHei"/>
              </a:rPr>
              <a:t> </a:t>
            </a:r>
            <a:r>
              <a:rPr lang="en-US" altLang="zh-TW" sz="1400" dirty="0">
                <a:solidFill>
                  <a:srgbClr val="222222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Microsoft JhengHei"/>
              </a:rPr>
              <a:t>:</a:t>
            </a:r>
            <a:r>
              <a:rPr lang="zh-TW" altLang="en-US" sz="1400" dirty="0">
                <a:solidFill>
                  <a:srgbClr val="222222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Microsoft JhengHe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Microsoft JhengHei"/>
              </a:rPr>
              <a:t>時間成長不是由圖片內容造成，而是由</a:t>
            </a:r>
            <a:r>
              <a:rPr sz="1400" dirty="0">
                <a:solidFill>
                  <a:srgbClr val="222222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Microsoft JhengHe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Microsoft JhengHei"/>
              </a:rPr>
              <a:t>packing、ring</a:t>
            </a:r>
            <a:r>
              <a:rPr sz="1400" dirty="0">
                <a:solidFill>
                  <a:srgbClr val="222222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Microsoft JhengHe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Microsoft JhengHei"/>
              </a:rPr>
              <a:t>dimension、key</a:t>
            </a:r>
            <a:r>
              <a:rPr sz="1400" dirty="0">
                <a:solidFill>
                  <a:srgbClr val="222222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Microsoft JhengHe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Microsoft JhengHei"/>
              </a:rPr>
              <a:t>switching／bootstrap</a:t>
            </a:r>
            <a:r>
              <a:rPr sz="1400" dirty="0">
                <a:solidFill>
                  <a:srgbClr val="222222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Microsoft JhengHei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Microsoft JhengHei"/>
              </a:rPr>
              <a:t>與記憶體壓力共同決定</a:t>
            </a:r>
            <a:endParaRPr sz="1400" dirty="0">
              <a:solidFill>
                <a:srgbClr val="222222"/>
              </a:solidFill>
              <a:latin typeface="標楷體" panose="03000509000000000000" pitchFamily="65" charset="-120"/>
              <a:ea typeface="標楷體" panose="03000509000000000000" pitchFamily="65" charset="-120"/>
              <a:cs typeface="Microsoft JhengHei"/>
            </a:endParaRPr>
          </a:p>
        </p:txBody>
      </p:sp>
      <p:sp>
        <p:nvSpPr>
          <p:cNvPr id="21" name="slide-number">
            <a:extLst>
              <a:ext uri="{FF2B5EF4-FFF2-40B4-BE49-F238E27FC236}">
                <a16:creationId xmlns:a16="http://schemas.microsoft.com/office/drawing/2014/main" id="{86D25470-B46F-46FD-B74E-BD56310CF126}"/>
              </a:ext>
            </a:extLst>
          </p:cNvPr>
          <p:cNvSpPr>
            <a:spLocks noGrp="1"/>
          </p:cNvSpPr>
          <p:nvPr/>
        </p:nvSpPr>
        <p:spPr>
          <a:xfrm>
            <a:off x="11239500" y="6191250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050">
                <a:solidFill>
                  <a:srgbClr val="5555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sz="1050" dirty="0">
                <a:solidFill>
                  <a:srgbClr val="555555"/>
                </a:solidFill>
                <a:latin typeface="Microsoft JhengHei"/>
                <a:ea typeface="Microsoft JhengHei"/>
                <a:cs typeface="Microsoft JhengHei"/>
              </a:rPr>
              <a:t>2</a:t>
            </a:r>
            <a:endParaRPr sz="1050" dirty="0">
              <a:solidFill>
                <a:srgbClr val="555555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3" name="conclusion">
            <a:extLst>
              <a:ext uri="{FF2B5EF4-FFF2-40B4-BE49-F238E27FC236}">
                <a16:creationId xmlns:a16="http://schemas.microsoft.com/office/drawing/2014/main" id="{C7EC1252-CE40-B8D9-BA73-74C5F292848D}"/>
              </a:ext>
            </a:extLst>
          </p:cNvPr>
          <p:cNvSpPr>
            <a:spLocks noGrp="1"/>
          </p:cNvSpPr>
          <p:nvPr/>
        </p:nvSpPr>
        <p:spPr>
          <a:xfrm>
            <a:off x="495299" y="6213585"/>
            <a:ext cx="105251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實驗範圍 </a:t>
            </a:r>
            <a:r>
              <a:rPr kumimoji="0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: </a:t>
            </a:r>
            <a:r>
              <a:rPr kumimoji="0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原論文僅評估 </a:t>
            </a:r>
            <a:r>
              <a:rPr kumimoji="0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32×32 CIFAR-10</a:t>
            </a:r>
            <a:r>
              <a:rPr kumimoji="0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；</a:t>
            </a:r>
            <a:r>
              <a:rPr kumimoji="0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64×64</a:t>
            </a:r>
            <a:r>
              <a:rPr kumimoji="0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kumimoji="0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128×128 </a:t>
            </a:r>
            <a:r>
              <a:rPr kumimoji="0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與 </a:t>
            </a:r>
            <a:r>
              <a:rPr kumimoji="0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256×256 </a:t>
            </a:r>
            <a:r>
              <a:rPr kumimoji="0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為本研究延伸實作，並非原論文實驗結果。</a:t>
            </a:r>
          </a:p>
        </p:txBody>
      </p:sp>
    </p:spTree>
    <p:extLst>
      <p:ext uri="{BB962C8B-B14F-4D97-AF65-F5344CB8AC3E}">
        <p14:creationId xmlns:p14="http://schemas.microsoft.com/office/powerpoint/2010/main" val="158550704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321</Words>
  <Application>Microsoft Office PowerPoint</Application>
  <DocSecurity>0</DocSecurity>
  <PresentationFormat>寬螢幕</PresentationFormat>
  <Paragraphs>38</Paragraphs>
  <Slides>2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6" baseType="lpstr">
      <vt:lpstr>Microsoft JhengHei</vt:lpstr>
      <vt:lpstr>標楷體</vt:lpstr>
      <vt:lpstr>Calibri</vt:lpstr>
      <vt:lpstr>ChatGPT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mark</cp:lastModifiedBy>
  <cp:revision>1</cp:revision>
  <dcterms:created xsi:type="dcterms:W3CDTF">2026-08-31T13:02:56Z</dcterms:created>
  <dcterms:modified xsi:type="dcterms:W3CDTF">2026-08-31T13:55:59Z</dcterms:modified>
</cp:coreProperties>
</file>